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326" r:id="rId4"/>
    <p:sldId id="335" r:id="rId5"/>
    <p:sldId id="270" r:id="rId6"/>
    <p:sldId id="336" r:id="rId7"/>
    <p:sldId id="327" r:id="rId8"/>
    <p:sldId id="337" r:id="rId9"/>
    <p:sldId id="268" r:id="rId10"/>
    <p:sldId id="338" r:id="rId11"/>
    <p:sldId id="328" r:id="rId12"/>
    <p:sldId id="339" r:id="rId13"/>
    <p:sldId id="333" r:id="rId14"/>
    <p:sldId id="340" r:id="rId15"/>
    <p:sldId id="34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88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 smtClean="0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F860-CB32-4C5D-9EF6-D2591E54BAE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79CB-1BEC-4C20-BFA2-8E4629E5439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557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F860-CB32-4C5D-9EF6-D2591E54BAE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79CB-1BEC-4C20-BFA2-8E4629E54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67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F860-CB32-4C5D-9EF6-D2591E54BAE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79CB-1BEC-4C20-BFA2-8E4629E5439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3128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F860-CB32-4C5D-9EF6-D2591E54BAE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79CB-1BEC-4C20-BFA2-8E4629E54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763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F860-CB32-4C5D-9EF6-D2591E54BAE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79CB-1BEC-4C20-BFA2-8E4629E54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12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F860-CB32-4C5D-9EF6-D2591E54BAE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79CB-1BEC-4C20-BFA2-8E4629E54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301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F860-CB32-4C5D-9EF6-D2591E54BAE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79CB-1BEC-4C20-BFA2-8E4629E54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733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99FF860-CB32-4C5D-9EF6-D2591E54BAE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21F79CB-1BEC-4C20-BFA2-8E4629E54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5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F860-CB32-4C5D-9EF6-D2591E54BAE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79CB-1BEC-4C20-BFA2-8E4629E54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475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F860-CB32-4C5D-9EF6-D2591E54BAE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79CB-1BEC-4C20-BFA2-8E4629E54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0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F860-CB32-4C5D-9EF6-D2591E54BAE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79CB-1BEC-4C20-BFA2-8E4629E54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04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99FF860-CB32-4C5D-9EF6-D2591E54BAE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21F79CB-1BEC-4C20-BFA2-8E4629E5439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111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0" y="1380391"/>
            <a:ext cx="12192000" cy="2198078"/>
          </a:xfrm>
        </p:spPr>
        <p:txBody>
          <a:bodyPr>
            <a:normAutofit fontScale="90000"/>
          </a:bodyPr>
          <a:lstStyle/>
          <a:p>
            <a:pPr algn="ctr"/>
            <a:r>
              <a:rPr lang="tr-TR" sz="3600" dirty="0" smtClean="0"/>
              <a:t/>
            </a:r>
            <a:br>
              <a:rPr lang="tr-TR" sz="3600" dirty="0" smtClean="0"/>
            </a:br>
            <a:r>
              <a:rPr lang="tr-TR" sz="3600" dirty="0" smtClean="0"/>
              <a:t> </a:t>
            </a:r>
            <a:r>
              <a:rPr lang="tr-TR" sz="6700" b="1" dirty="0" smtClean="0"/>
              <a:t>Mobil Programlama</a:t>
            </a:r>
            <a:r>
              <a:rPr lang="tr-TR" sz="3600" b="1" dirty="0" smtClean="0"/>
              <a:t/>
            </a:r>
            <a:br>
              <a:rPr lang="tr-TR" sz="3600" b="1" dirty="0" smtClean="0"/>
            </a:br>
            <a:r>
              <a:rPr lang="tr-TR" sz="3600" dirty="0"/>
              <a:t/>
            </a:r>
            <a:br>
              <a:rPr lang="tr-TR" sz="3600" dirty="0"/>
            </a:br>
            <a:r>
              <a:rPr lang="tr-TR" sz="3600" dirty="0"/>
              <a:t>HTTP </a:t>
            </a:r>
            <a:r>
              <a:rPr lang="tr-TR" sz="3600" dirty="0" smtClean="0"/>
              <a:t>ve </a:t>
            </a:r>
            <a:r>
              <a:rPr lang="tr-TR" sz="3600" dirty="0"/>
              <a:t>API </a:t>
            </a:r>
            <a:r>
              <a:rPr lang="tr-TR" sz="3600" dirty="0" smtClean="0"/>
              <a:t>Entegrasyonu </a:t>
            </a:r>
            <a:r>
              <a:rPr lang="tr-TR" sz="3600" dirty="0"/>
              <a:t>(</a:t>
            </a:r>
            <a:r>
              <a:rPr lang="tr-TR" sz="3600" dirty="0" smtClean="0"/>
              <a:t>Dış Dünyaya Bağlanma)</a:t>
            </a:r>
            <a:endParaRPr lang="tr-TR" sz="3600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090247" y="4455620"/>
            <a:ext cx="10049608" cy="1143000"/>
          </a:xfrm>
        </p:spPr>
        <p:txBody>
          <a:bodyPr/>
          <a:lstStyle/>
          <a:p>
            <a:pPr algn="ctr"/>
            <a:r>
              <a:rPr lang="tr-TR" dirty="0" smtClean="0"/>
              <a:t>Hazırlayan: </a:t>
            </a:r>
            <a:r>
              <a:rPr lang="tr-TR" dirty="0" err="1" smtClean="0"/>
              <a:t>dr.</a:t>
            </a:r>
            <a:r>
              <a:rPr lang="tr-TR" dirty="0" smtClean="0"/>
              <a:t> </a:t>
            </a:r>
            <a:r>
              <a:rPr lang="tr-TR" dirty="0" err="1" smtClean="0"/>
              <a:t>Öğr.üyesi</a:t>
            </a:r>
            <a:r>
              <a:rPr lang="tr-TR" dirty="0" smtClean="0"/>
              <a:t> </a:t>
            </a:r>
            <a:r>
              <a:rPr lang="tr-TR" dirty="0" err="1" smtClean="0"/>
              <a:t>ömer</a:t>
            </a:r>
            <a:r>
              <a:rPr lang="tr-TR" dirty="0" smtClean="0"/>
              <a:t> yılmaz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314" y="184638"/>
            <a:ext cx="1269474" cy="108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671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REST API </a:t>
            </a:r>
            <a:r>
              <a:rPr lang="en-US" sz="4000" b="1" dirty="0" err="1"/>
              <a:t>Nedir</a:t>
            </a:r>
            <a:r>
              <a:rPr lang="en-US" sz="4000" b="1" dirty="0"/>
              <a:t>?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tr-TR" sz="2400" b="1" dirty="0" smtClean="0"/>
              <a:t> API </a:t>
            </a:r>
            <a:r>
              <a:rPr lang="tr-TR" sz="2400" b="1" dirty="0"/>
              <a:t>(Application Programming </a:t>
            </a:r>
            <a:r>
              <a:rPr lang="tr-TR" sz="2400" b="1" dirty="0" err="1"/>
              <a:t>Interface</a:t>
            </a:r>
            <a:r>
              <a:rPr lang="tr-TR" sz="2400" b="1" dirty="0"/>
              <a:t>):</a:t>
            </a:r>
            <a:r>
              <a:rPr lang="tr-TR" sz="2400" dirty="0"/>
              <a:t> Uygulama Programlama </a:t>
            </a:r>
            <a:r>
              <a:rPr lang="tr-TR" sz="2400" dirty="0" err="1"/>
              <a:t>Arayüzü</a:t>
            </a:r>
            <a:r>
              <a:rPr lang="tr-TR" sz="2400" dirty="0"/>
              <a:t>. İki farklı yazılımın (Mobil uygulama ve Sunucu) birbiriyle konuşmasını sağlar.</a:t>
            </a:r>
          </a:p>
          <a:p>
            <a:pPr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tr-TR" sz="2400" b="1" dirty="0" smtClean="0"/>
              <a:t> REST </a:t>
            </a:r>
            <a:r>
              <a:rPr lang="tr-TR" sz="2400" b="1" dirty="0"/>
              <a:t>(</a:t>
            </a:r>
            <a:r>
              <a:rPr lang="tr-TR" sz="2400" b="1" dirty="0" err="1"/>
              <a:t>Representational</a:t>
            </a:r>
            <a:r>
              <a:rPr lang="tr-TR" sz="2400" b="1" dirty="0"/>
              <a:t> </a:t>
            </a:r>
            <a:r>
              <a:rPr lang="tr-TR" sz="2400" b="1" dirty="0" err="1"/>
              <a:t>State</a:t>
            </a:r>
            <a:r>
              <a:rPr lang="tr-TR" sz="2400" b="1" dirty="0"/>
              <a:t> Transfer):</a:t>
            </a:r>
            <a:r>
              <a:rPr lang="tr-TR" sz="2400" dirty="0"/>
              <a:t> İnternet üzerinden veri alışverişi yapmak için kullanılan en yaygın mimari standarttır.</a:t>
            </a:r>
          </a:p>
          <a:p>
            <a:pPr>
              <a:lnSpc>
                <a:spcPct val="10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tr-TR" sz="2400" b="1" dirty="0" smtClean="0"/>
              <a:t> İstek </a:t>
            </a:r>
            <a:r>
              <a:rPr lang="tr-TR" sz="2400" b="1" dirty="0"/>
              <a:t>(</a:t>
            </a:r>
            <a:r>
              <a:rPr lang="tr-TR" sz="2400" b="1" dirty="0" err="1"/>
              <a:t>Request</a:t>
            </a:r>
            <a:r>
              <a:rPr lang="tr-TR" sz="2400" b="1" dirty="0"/>
              <a:t>):</a:t>
            </a:r>
            <a:r>
              <a:rPr lang="tr-TR" sz="2400" dirty="0"/>
              <a:t> Uygulamamızın sunucuya </a:t>
            </a:r>
            <a:endParaRPr lang="tr-TR" sz="2400" dirty="0" smtClean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dirty="0" smtClean="0"/>
              <a:t>"</a:t>
            </a:r>
            <a:r>
              <a:rPr lang="tr-TR" sz="2400" dirty="0"/>
              <a:t>bana şu veriyi gönder" demesidir.</a:t>
            </a:r>
          </a:p>
          <a:p>
            <a:pPr>
              <a:lnSpc>
                <a:spcPct val="10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tr-TR" sz="2400" b="1" dirty="0" smtClean="0"/>
              <a:t> Yanıt </a:t>
            </a:r>
            <a:r>
              <a:rPr lang="tr-TR" sz="2400" b="1" dirty="0"/>
              <a:t>(</a:t>
            </a:r>
            <a:r>
              <a:rPr lang="tr-TR" sz="2400" b="1" dirty="0" err="1"/>
              <a:t>Response</a:t>
            </a:r>
            <a:r>
              <a:rPr lang="tr-TR" sz="2400" b="1" dirty="0"/>
              <a:t>):</a:t>
            </a:r>
            <a:r>
              <a:rPr lang="tr-TR" sz="2400" dirty="0"/>
              <a:t> Sunucunun veriyi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dirty="0" smtClean="0"/>
              <a:t>(</a:t>
            </a:r>
            <a:r>
              <a:rPr lang="tr-TR" sz="2400" dirty="0"/>
              <a:t>genellikle JSON formatında) geri göndermesidir.</a:t>
            </a:r>
          </a:p>
          <a:p>
            <a:pPr marL="0" indent="0" algn="just">
              <a:buNone/>
            </a:pPr>
            <a:endParaRPr lang="en-US" sz="2800" dirty="0"/>
          </a:p>
        </p:txBody>
      </p:sp>
      <p:graphicFrame>
        <p:nvGraphicFramePr>
          <p:cNvPr id="5" name="Nesne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351948"/>
              </p:ext>
            </p:extLst>
          </p:nvPr>
        </p:nvGraphicFramePr>
        <p:xfrm>
          <a:off x="7828444" y="3206775"/>
          <a:ext cx="4068588" cy="3099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r:id="rId3" imgW="10145880" imgH="7720560" progId="">
                  <p:embed/>
                </p:oleObj>
              </mc:Choice>
              <mc:Fallback>
                <p:oleObj r:id="rId3" imgW="10145880" imgH="772056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28444" y="3206775"/>
                        <a:ext cx="4068588" cy="3099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8731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JSON </a:t>
            </a:r>
            <a:r>
              <a:rPr lang="en-US" sz="4000" b="1" dirty="0" err="1"/>
              <a:t>Veri</a:t>
            </a:r>
            <a:r>
              <a:rPr lang="en-US" sz="4000" b="1" dirty="0"/>
              <a:t> </a:t>
            </a:r>
            <a:r>
              <a:rPr lang="en-US" sz="4000" b="1" dirty="0" err="1"/>
              <a:t>Formatı</a:t>
            </a:r>
            <a:endParaRPr lang="en-US" sz="4000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400" b="1" dirty="0" smtClean="0"/>
              <a:t> JSON </a:t>
            </a:r>
            <a:r>
              <a:rPr lang="tr-TR" sz="2400" b="1" dirty="0"/>
              <a:t>(</a:t>
            </a:r>
            <a:r>
              <a:rPr lang="tr-TR" sz="2400" b="1" dirty="0" err="1"/>
              <a:t>JavaScript</a:t>
            </a:r>
            <a:r>
              <a:rPr lang="tr-TR" sz="2400" b="1" dirty="0"/>
              <a:t> Object </a:t>
            </a:r>
            <a:r>
              <a:rPr lang="tr-TR" sz="2400" b="1" dirty="0" err="1"/>
              <a:t>Notation</a:t>
            </a:r>
            <a:r>
              <a:rPr lang="tr-TR" sz="2400" b="1" dirty="0"/>
              <a:t>): </a:t>
            </a:r>
            <a:r>
              <a:rPr lang="tr-TR" sz="2400" dirty="0"/>
              <a:t>Verileri depolamak ve taşımak için kullanılan hafif, metin tabanlı bir formattır.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 smtClean="0"/>
              <a:t> Dart </a:t>
            </a:r>
            <a:r>
              <a:rPr lang="tr-TR" sz="2400" dirty="0"/>
              <a:t>dilindeki </a:t>
            </a:r>
            <a:r>
              <a:rPr lang="tr-TR" sz="2400" dirty="0" err="1"/>
              <a:t>Map</a:t>
            </a:r>
            <a:r>
              <a:rPr lang="tr-TR" sz="2400" dirty="0"/>
              <a:t> (Anahtar-Değer) yapısına çok benzer.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b="1" dirty="0" smtClean="0"/>
              <a:t> { </a:t>
            </a:r>
            <a:r>
              <a:rPr lang="tr-TR" sz="2400" b="1" dirty="0"/>
              <a:t>} (Süslü Parantez): </a:t>
            </a:r>
            <a:r>
              <a:rPr lang="tr-TR" sz="2400" dirty="0"/>
              <a:t>Bir nesneyi (Object) temsil eder.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b="1" dirty="0" smtClean="0"/>
              <a:t> [ </a:t>
            </a:r>
            <a:r>
              <a:rPr lang="tr-TR" sz="2400" b="1" dirty="0"/>
              <a:t>] (Köşeli Parantez): </a:t>
            </a:r>
            <a:r>
              <a:rPr lang="tr-TR" sz="2400" dirty="0"/>
              <a:t>Bir listeyi (</a:t>
            </a:r>
            <a:r>
              <a:rPr lang="tr-TR" sz="2400" dirty="0" err="1"/>
              <a:t>Array</a:t>
            </a:r>
            <a:r>
              <a:rPr lang="tr-TR" sz="2400" dirty="0"/>
              <a:t>) temsil eder.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85510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JSON </a:t>
            </a:r>
            <a:r>
              <a:rPr lang="en-US" sz="4000" b="1" dirty="0" err="1"/>
              <a:t>Veri</a:t>
            </a:r>
            <a:r>
              <a:rPr lang="en-US" sz="4000" b="1" dirty="0"/>
              <a:t> </a:t>
            </a:r>
            <a:r>
              <a:rPr lang="en-US" sz="4000" b="1" dirty="0" err="1"/>
              <a:t>Formatı</a:t>
            </a:r>
            <a:endParaRPr lang="en-US" sz="4000" b="1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7804" y="1911238"/>
            <a:ext cx="5856662" cy="430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716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http </a:t>
            </a:r>
            <a:r>
              <a:rPr lang="en-US" sz="4000" b="1" dirty="0" err="1"/>
              <a:t>Paketi</a:t>
            </a:r>
            <a:r>
              <a:rPr lang="en-US" sz="4000" b="1" dirty="0"/>
              <a:t> </a:t>
            </a:r>
            <a:r>
              <a:rPr lang="en-US" sz="4000" b="1" dirty="0" err="1"/>
              <a:t>ve</a:t>
            </a:r>
            <a:r>
              <a:rPr lang="en-US" sz="4000" b="1" dirty="0"/>
              <a:t> </a:t>
            </a:r>
            <a:r>
              <a:rPr lang="en-US" sz="4000" b="1" dirty="0" err="1"/>
              <a:t>Kurulumu</a:t>
            </a:r>
            <a:endParaRPr lang="en-US" sz="4000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tr-TR" sz="2400" dirty="0" smtClean="0"/>
              <a:t> </a:t>
            </a:r>
            <a:r>
              <a:rPr lang="tr-TR" sz="2400" dirty="0" err="1" smtClean="0"/>
              <a:t>Flutter</a:t>
            </a:r>
            <a:r>
              <a:rPr lang="tr-TR" sz="2400" dirty="0" smtClean="0"/>
              <a:t> projelerinde internete çıkmak için en yaygın kullanılan araç http paketidir.</a:t>
            </a:r>
            <a:endParaRPr lang="tr-TR" sz="24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tr-TR" sz="2400" b="1" dirty="0" smtClean="0"/>
              <a:t> </a:t>
            </a:r>
            <a:r>
              <a:rPr lang="tr-TR" sz="2400" b="1" dirty="0" err="1" smtClean="0"/>
              <a:t>pubspec.yaml</a:t>
            </a:r>
            <a:r>
              <a:rPr lang="tr-TR" sz="2400" b="1" dirty="0"/>
              <a:t>:</a:t>
            </a:r>
            <a:r>
              <a:rPr lang="tr-TR" sz="2400" dirty="0"/>
              <a:t> Paketi projenin bağımlılıklar listesine eklemeliyiz.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tr-TR" sz="2400" b="1" dirty="0" smtClean="0"/>
              <a:t> </a:t>
            </a:r>
            <a:r>
              <a:rPr lang="tr-TR" sz="2400" b="1" dirty="0" err="1" smtClean="0"/>
              <a:t>Import</a:t>
            </a:r>
            <a:r>
              <a:rPr lang="tr-TR" sz="2400" b="1" dirty="0"/>
              <a:t>:</a:t>
            </a:r>
            <a:r>
              <a:rPr lang="tr-TR" sz="2400" dirty="0"/>
              <a:t> Kullanılacak Dart dosyasının en üstüne paketi dahil etmeliyiz.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tr-TR" sz="2400" b="1" dirty="0" smtClean="0"/>
              <a:t> </a:t>
            </a:r>
            <a:r>
              <a:rPr lang="tr-TR" sz="2400" b="1" dirty="0" err="1" smtClean="0"/>
              <a:t>Android</a:t>
            </a:r>
            <a:r>
              <a:rPr lang="tr-TR" sz="2400" b="1" dirty="0" smtClean="0"/>
              <a:t> </a:t>
            </a:r>
            <a:r>
              <a:rPr lang="tr-TR" sz="2400" b="1" dirty="0"/>
              <a:t>İzni:</a:t>
            </a:r>
            <a:r>
              <a:rPr lang="tr-TR" sz="2400" dirty="0"/>
              <a:t> </a:t>
            </a:r>
            <a:r>
              <a:rPr lang="tr-TR" sz="2400" dirty="0" err="1"/>
              <a:t>android</a:t>
            </a:r>
            <a:r>
              <a:rPr lang="tr-TR" sz="2400" dirty="0"/>
              <a:t>/</a:t>
            </a:r>
            <a:r>
              <a:rPr lang="tr-TR" sz="2400" dirty="0" err="1"/>
              <a:t>app</a:t>
            </a:r>
            <a:r>
              <a:rPr lang="tr-TR" sz="2400" dirty="0"/>
              <a:t>/</a:t>
            </a:r>
            <a:r>
              <a:rPr lang="tr-TR" sz="2400" dirty="0" err="1"/>
              <a:t>src</a:t>
            </a:r>
            <a:r>
              <a:rPr lang="tr-TR" sz="2400" dirty="0"/>
              <a:t>/main/AndroidManifest.xml içine internet izni eklenmesi gerekebilir.</a:t>
            </a:r>
          </a:p>
          <a:p>
            <a:pPr marL="0" indent="0" algn="just">
              <a:buNone/>
            </a:pPr>
            <a:endParaRPr lang="tr-TR" sz="2800" dirty="0" smtClean="0"/>
          </a:p>
        </p:txBody>
      </p:sp>
    </p:spTree>
    <p:extLst>
      <p:ext uri="{BB962C8B-B14F-4D97-AF65-F5344CB8AC3E}">
        <p14:creationId xmlns:p14="http://schemas.microsoft.com/office/powerpoint/2010/main" val="1957668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http </a:t>
            </a:r>
            <a:r>
              <a:rPr lang="en-US" sz="4000" b="1" dirty="0" err="1"/>
              <a:t>Paketi</a:t>
            </a:r>
            <a:r>
              <a:rPr lang="en-US" sz="4000" b="1" dirty="0"/>
              <a:t> </a:t>
            </a:r>
            <a:r>
              <a:rPr lang="en-US" sz="4000" b="1" dirty="0" err="1"/>
              <a:t>ve</a:t>
            </a:r>
            <a:r>
              <a:rPr lang="en-US" sz="4000" b="1" dirty="0"/>
              <a:t> </a:t>
            </a:r>
            <a:r>
              <a:rPr lang="en-US" sz="4000" b="1" dirty="0" err="1"/>
              <a:t>Kurulumu</a:t>
            </a:r>
            <a:endParaRPr lang="en-US" sz="4000" b="1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6407" y="2123768"/>
            <a:ext cx="8400146" cy="381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413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/>
              <a:t>Veri Modeli (Model Class) Oluşturma</a:t>
            </a:r>
            <a:endParaRPr lang="en-US" sz="4000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tr-TR" sz="2400" dirty="0" smtClean="0"/>
              <a:t> İnternetten </a:t>
            </a:r>
            <a:r>
              <a:rPr lang="tr-TR" sz="2400" dirty="0"/>
              <a:t>gelen ham JSON metnini (</a:t>
            </a:r>
            <a:r>
              <a:rPr lang="tr-TR" sz="2400" dirty="0" err="1"/>
              <a:t>String</a:t>
            </a:r>
            <a:r>
              <a:rPr lang="tr-TR" sz="2400" dirty="0"/>
              <a:t>), </a:t>
            </a:r>
            <a:r>
              <a:rPr lang="tr-TR" sz="2400" dirty="0" err="1"/>
              <a:t>Flutter</a:t>
            </a:r>
            <a:r>
              <a:rPr lang="tr-TR" sz="2400" dirty="0"/>
              <a:t> içinde güvenle kullanabilmek için Dart nesnelerine çevirmeliyiz.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tr-TR" sz="2400" b="1" dirty="0" smtClean="0"/>
              <a:t> </a:t>
            </a:r>
            <a:r>
              <a:rPr lang="tr-TR" sz="2400" b="1" dirty="0" err="1" smtClean="0"/>
              <a:t>factory</a:t>
            </a:r>
            <a:r>
              <a:rPr lang="tr-TR" sz="2400" b="1" dirty="0" smtClean="0"/>
              <a:t> </a:t>
            </a:r>
            <a:r>
              <a:rPr lang="tr-TR" sz="2400" b="1" dirty="0" err="1"/>
              <a:t>constructor</a:t>
            </a:r>
            <a:r>
              <a:rPr lang="tr-TR" sz="2400" b="1" dirty="0"/>
              <a:t>:</a:t>
            </a:r>
            <a:r>
              <a:rPr lang="tr-TR" sz="2400" dirty="0"/>
              <a:t> JSON haritasını alıp o sınıftan bir nesne üreten özel bir yapıcı metottur.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tr-TR" sz="2400" dirty="0" smtClean="0"/>
              <a:t> Bu </a:t>
            </a:r>
            <a:r>
              <a:rPr lang="tr-TR" sz="2400" dirty="0"/>
              <a:t>işlem, uygulamanın tip güvenliğini (</a:t>
            </a:r>
            <a:r>
              <a:rPr lang="tr-TR" sz="2400" dirty="0" err="1"/>
              <a:t>Type</a:t>
            </a:r>
            <a:r>
              <a:rPr lang="tr-TR" sz="2400" dirty="0"/>
              <a:t> </a:t>
            </a:r>
            <a:r>
              <a:rPr lang="tr-TR" sz="2400" dirty="0" err="1"/>
              <a:t>Safety</a:t>
            </a:r>
            <a:r>
              <a:rPr lang="tr-TR" sz="2400" dirty="0"/>
              <a:t>) sağlar.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76256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/>
              <a:t>Veri Modeli (Model Class) Oluşturma</a:t>
            </a:r>
            <a:endParaRPr lang="en-US" sz="4000" b="1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5641" y="1890437"/>
            <a:ext cx="7134738" cy="420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048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 err="1"/>
              <a:t>API'den</a:t>
            </a:r>
            <a:r>
              <a:rPr lang="tr-TR" b="1" dirty="0"/>
              <a:t> Veri Çekme (GET İsteği)</a:t>
            </a:r>
            <a:endParaRPr lang="en-US" sz="4000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tr-TR" sz="2400" b="1" dirty="0" smtClean="0"/>
              <a:t> </a:t>
            </a:r>
            <a:r>
              <a:rPr lang="tr-TR" sz="2400" b="1" dirty="0" err="1" smtClean="0"/>
              <a:t>Uri.parse</a:t>
            </a:r>
            <a:r>
              <a:rPr lang="tr-TR" sz="2400" b="1" dirty="0"/>
              <a:t>:</a:t>
            </a:r>
            <a:r>
              <a:rPr lang="tr-TR" sz="2400" dirty="0"/>
              <a:t> URL adresini </a:t>
            </a:r>
            <a:r>
              <a:rPr lang="tr-TR" sz="2400" dirty="0" err="1"/>
              <a:t>Flutter'ın</a:t>
            </a:r>
            <a:r>
              <a:rPr lang="tr-TR" sz="2400" dirty="0"/>
              <a:t> anlayacağı bir URI formatına çevirir.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tr-TR" sz="2400" b="1" dirty="0" smtClean="0"/>
              <a:t> </a:t>
            </a:r>
            <a:r>
              <a:rPr lang="tr-TR" sz="2400" b="1" dirty="0" err="1" smtClean="0"/>
              <a:t>http.get</a:t>
            </a:r>
            <a:r>
              <a:rPr lang="tr-TR" sz="2400" b="1" dirty="0"/>
              <a:t>:</a:t>
            </a:r>
            <a:r>
              <a:rPr lang="tr-TR" sz="2400" dirty="0"/>
              <a:t> Sunucuya veriyi getirmesi için istek atar.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tr-TR" sz="2400" b="1" dirty="0" smtClean="0"/>
              <a:t> </a:t>
            </a:r>
            <a:r>
              <a:rPr lang="tr-TR" sz="2400" b="1" dirty="0" err="1" smtClean="0"/>
              <a:t>statusCode</a:t>
            </a:r>
            <a:r>
              <a:rPr lang="tr-TR" sz="2400" b="1" dirty="0" smtClean="0"/>
              <a:t> </a:t>
            </a:r>
            <a:r>
              <a:rPr lang="tr-TR" sz="2400" b="1" dirty="0"/>
              <a:t>== 200:</a:t>
            </a:r>
            <a:r>
              <a:rPr lang="tr-TR" sz="2400" dirty="0"/>
              <a:t> Sunucunun "İşlem başarılı, veriyi gönderiyorum" demesidir.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tr-TR" sz="2400" b="1" dirty="0" smtClean="0"/>
              <a:t> </a:t>
            </a:r>
            <a:r>
              <a:rPr lang="tr-TR" sz="2400" b="1" dirty="0" err="1" smtClean="0"/>
              <a:t>json.decode</a:t>
            </a:r>
            <a:r>
              <a:rPr lang="tr-TR" sz="2400" b="1" dirty="0"/>
              <a:t>:</a:t>
            </a:r>
            <a:r>
              <a:rPr lang="tr-TR" sz="2400" dirty="0"/>
              <a:t> Gelen karmaşık metin yığınını </a:t>
            </a:r>
            <a:r>
              <a:rPr lang="tr-TR" sz="2400" dirty="0" err="1"/>
              <a:t>Dart'ın</a:t>
            </a:r>
            <a:r>
              <a:rPr lang="tr-TR" sz="2400" dirty="0"/>
              <a:t> işleyebileceği bir listeye çevirir.</a:t>
            </a:r>
          </a:p>
          <a:p>
            <a:pPr marL="0" indent="0" algn="just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04209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 err="1"/>
              <a:t>API'den</a:t>
            </a:r>
            <a:r>
              <a:rPr lang="tr-TR" b="1" dirty="0"/>
              <a:t> Veri Çekme (GET İsteği)</a:t>
            </a:r>
            <a:endParaRPr lang="en-US" sz="4000" b="1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0248" y="2070673"/>
            <a:ext cx="9955432" cy="375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776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/>
              <a:t>Arayüz Entegrasyonu (</a:t>
            </a:r>
            <a:r>
              <a:rPr lang="tr-TR" b="1" dirty="0" err="1"/>
              <a:t>FutureBuilder</a:t>
            </a:r>
            <a:r>
              <a:rPr lang="tr-TR" b="1" dirty="0"/>
              <a:t>)</a:t>
            </a:r>
            <a:endParaRPr lang="en-US" sz="4000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tr-TR" dirty="0"/>
              <a:t> </a:t>
            </a:r>
            <a:r>
              <a:rPr lang="tr-TR" sz="2400" dirty="0" err="1" smtClean="0"/>
              <a:t>FutureBuilder</a:t>
            </a:r>
            <a:r>
              <a:rPr lang="tr-TR" sz="2400" dirty="0" smtClean="0"/>
              <a:t> </a:t>
            </a:r>
            <a:r>
              <a:rPr lang="tr-TR" sz="2400" dirty="0"/>
              <a:t>yapısını burada gerçek veriye bağlıyoruz.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tr-TR" sz="2400" b="1" dirty="0" smtClean="0"/>
              <a:t> </a:t>
            </a:r>
            <a:r>
              <a:rPr lang="tr-TR" sz="2400" b="1" dirty="0" err="1" smtClean="0"/>
              <a:t>waiting</a:t>
            </a:r>
            <a:r>
              <a:rPr lang="tr-TR" sz="2400" b="1" dirty="0"/>
              <a:t>:</a:t>
            </a:r>
            <a:r>
              <a:rPr lang="tr-TR" sz="2400" dirty="0"/>
              <a:t> Veri internetten inerken ekranda bir yükleme simgesi gösterilir.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tr-TR" sz="2400" b="1" dirty="0" smtClean="0"/>
              <a:t> </a:t>
            </a:r>
            <a:r>
              <a:rPr lang="tr-TR" sz="2400" b="1" dirty="0" err="1" smtClean="0"/>
              <a:t>hasData</a:t>
            </a:r>
            <a:r>
              <a:rPr lang="tr-TR" sz="2400" b="1" dirty="0"/>
              <a:t>:</a:t>
            </a:r>
            <a:r>
              <a:rPr lang="tr-TR" sz="2400" dirty="0"/>
              <a:t> Veri indiği anda </a:t>
            </a:r>
            <a:r>
              <a:rPr lang="tr-TR" sz="2400" dirty="0" err="1"/>
              <a:t>ListView.builder</a:t>
            </a:r>
            <a:r>
              <a:rPr lang="tr-TR" sz="2400" dirty="0"/>
              <a:t> ile ekrana basılır.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tr-TR" sz="2400" b="1" dirty="0" smtClean="0"/>
              <a:t> </a:t>
            </a:r>
            <a:r>
              <a:rPr lang="tr-TR" sz="2400" b="1" dirty="0" err="1" smtClean="0"/>
              <a:t>hasError</a:t>
            </a:r>
            <a:r>
              <a:rPr lang="tr-TR" sz="2400" b="1" dirty="0"/>
              <a:t>:</a:t>
            </a:r>
            <a:r>
              <a:rPr lang="tr-TR" sz="2400" dirty="0"/>
              <a:t> İnternet yoksa veya sunucu hata verdiyse kullanıcıya bilgi verilir.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28768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/>
              <a:t>Arayüz Entegrasyonu (</a:t>
            </a:r>
            <a:r>
              <a:rPr lang="tr-TR" b="1" dirty="0" err="1"/>
              <a:t>FutureBuilder</a:t>
            </a:r>
            <a:r>
              <a:rPr lang="tr-TR" b="1" dirty="0"/>
              <a:t>)</a:t>
            </a:r>
            <a:endParaRPr lang="en-US" sz="4000" b="1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1626" y="1846263"/>
            <a:ext cx="4996765" cy="438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283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err="1"/>
              <a:t>Uygulama</a:t>
            </a:r>
            <a:r>
              <a:rPr lang="en-US" sz="4000" b="1" dirty="0"/>
              <a:t> </a:t>
            </a:r>
            <a:r>
              <a:rPr lang="tr-TR" sz="4000" b="1" dirty="0" smtClean="0"/>
              <a:t>Ödevi</a:t>
            </a:r>
            <a:endParaRPr lang="en-US" sz="4000" b="1" dirty="0"/>
          </a:p>
        </p:txBody>
      </p:sp>
      <p:sp>
        <p:nvSpPr>
          <p:cNvPr id="11" name="İçerik Yer Tutucusu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tr-TR" sz="2400" b="1" dirty="0"/>
              <a:t>Konu: </a:t>
            </a:r>
            <a:r>
              <a:rPr lang="tr-TR" sz="2400" dirty="0" smtClean="0"/>
              <a:t>"</a:t>
            </a:r>
            <a:r>
              <a:rPr lang="tr-TR" sz="2400" dirty="0"/>
              <a:t>Dinamik Kullanıcı Rehberi</a:t>
            </a:r>
            <a:r>
              <a:rPr lang="tr-TR" sz="2400" dirty="0" smtClean="0"/>
              <a:t>" </a:t>
            </a:r>
          </a:p>
          <a:p>
            <a:pPr marL="785812" lvl="1" indent="-342900">
              <a:buFont typeface="Wingdings" panose="05000000000000000000" pitchFamily="2" charset="2"/>
              <a:buChar char="Ø"/>
            </a:pPr>
            <a:r>
              <a:rPr lang="tr-TR" sz="2400" b="1" dirty="0"/>
              <a:t>Paket Kurulumu: </a:t>
            </a:r>
            <a:r>
              <a:rPr lang="tr-TR" sz="2400" dirty="0"/>
              <a:t>http paketini projenize dahil edin. </a:t>
            </a:r>
            <a:endParaRPr lang="tr-TR" sz="2400" dirty="0" smtClean="0"/>
          </a:p>
          <a:p>
            <a:pPr marL="785812" lvl="1" indent="-342900">
              <a:buFont typeface="Wingdings" panose="05000000000000000000" pitchFamily="2" charset="2"/>
              <a:buChar char="Ø"/>
            </a:pPr>
            <a:r>
              <a:rPr lang="tr-TR" sz="2400" b="1" dirty="0" smtClean="0"/>
              <a:t>Veri </a:t>
            </a:r>
            <a:r>
              <a:rPr lang="tr-TR" sz="2400" b="1" dirty="0"/>
              <a:t>Kaynağı: </a:t>
            </a:r>
            <a:r>
              <a:rPr lang="tr-TR" sz="2400" dirty="0" smtClean="0"/>
              <a:t>https</a:t>
            </a:r>
            <a:r>
              <a:rPr lang="tr-TR" sz="2400" dirty="0"/>
              <a:t>://</a:t>
            </a:r>
            <a:r>
              <a:rPr lang="tr-TR" sz="2400" dirty="0" smtClean="0"/>
              <a:t>jsonplaceholder.typicode.com/users </a:t>
            </a:r>
            <a:r>
              <a:rPr lang="tr-TR" sz="2400" dirty="0"/>
              <a:t>adresindeki gerçek verileri kullanın. </a:t>
            </a:r>
            <a:endParaRPr lang="tr-TR" sz="2400" dirty="0" smtClean="0"/>
          </a:p>
          <a:p>
            <a:pPr marL="785812" lvl="1" indent="-342900">
              <a:buFont typeface="Wingdings" panose="05000000000000000000" pitchFamily="2" charset="2"/>
              <a:buChar char="Ø"/>
            </a:pPr>
            <a:r>
              <a:rPr lang="tr-TR" sz="2400" b="1" dirty="0" smtClean="0"/>
              <a:t>Tasarım</a:t>
            </a:r>
            <a:r>
              <a:rPr lang="tr-TR" sz="2400" b="1" dirty="0"/>
              <a:t>: </a:t>
            </a:r>
            <a:r>
              <a:rPr lang="tr-TR" sz="2400" dirty="0"/>
              <a:t>Her kullanıcının İsmini, E-postasını ve Şirket Adını içeren bir liste tasarlayın. </a:t>
            </a:r>
            <a:endParaRPr lang="tr-TR" sz="2400" dirty="0" smtClean="0"/>
          </a:p>
          <a:p>
            <a:pPr marL="785812" lvl="1" indent="-342900">
              <a:buFont typeface="Wingdings" panose="05000000000000000000" pitchFamily="2" charset="2"/>
              <a:buChar char="Ø"/>
            </a:pPr>
            <a:r>
              <a:rPr lang="tr-TR" sz="2400" b="1" dirty="0" smtClean="0"/>
              <a:t>Yükleme </a:t>
            </a:r>
            <a:r>
              <a:rPr lang="tr-TR" sz="2400" b="1" dirty="0"/>
              <a:t>Ekranı: </a:t>
            </a:r>
            <a:r>
              <a:rPr lang="tr-TR" sz="2400" dirty="0"/>
              <a:t>Veriler yüklenirken "Kullanıcılar Bulut Sunucudan Getiriliyor..." yazısı çıksın. </a:t>
            </a:r>
            <a:endParaRPr lang="tr-TR" sz="2400" dirty="0" smtClean="0"/>
          </a:p>
          <a:p>
            <a:pPr marL="785812" lvl="1" indent="-342900">
              <a:buFont typeface="Wingdings" panose="05000000000000000000" pitchFamily="2" charset="2"/>
              <a:buChar char="Ø"/>
            </a:pPr>
            <a:r>
              <a:rPr lang="tr-TR" sz="2400" b="1" dirty="0" smtClean="0"/>
              <a:t>Etkileşim</a:t>
            </a:r>
            <a:r>
              <a:rPr lang="tr-TR" sz="2400" b="1" dirty="0"/>
              <a:t>: </a:t>
            </a:r>
            <a:r>
              <a:rPr lang="tr-TR" sz="2400" dirty="0"/>
              <a:t>Kullanıcıya tıklandığında </a:t>
            </a:r>
            <a:r>
              <a:rPr lang="tr-TR" sz="2400" dirty="0" err="1"/>
              <a:t>SnackBar</a:t>
            </a:r>
            <a:r>
              <a:rPr lang="tr-TR" sz="2400" dirty="0"/>
              <a:t> ile kullanıcının telefon numarasını gösterin. </a:t>
            </a:r>
          </a:p>
        </p:txBody>
      </p:sp>
    </p:spTree>
    <p:extLst>
      <p:ext uri="{BB962C8B-B14F-4D97-AF65-F5344CB8AC3E}">
        <p14:creationId xmlns:p14="http://schemas.microsoft.com/office/powerpoint/2010/main" val="3850042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err="1"/>
              <a:t>Uygulama</a:t>
            </a:r>
            <a:r>
              <a:rPr lang="en-US" sz="4000" b="1" dirty="0"/>
              <a:t> </a:t>
            </a:r>
            <a:r>
              <a:rPr lang="tr-TR" sz="4000" b="1" dirty="0" smtClean="0"/>
              <a:t>Ödevi</a:t>
            </a:r>
            <a:endParaRPr lang="en-US" sz="4000" b="1" dirty="0"/>
          </a:p>
        </p:txBody>
      </p:sp>
      <p:sp>
        <p:nvSpPr>
          <p:cNvPr id="11" name="İçerik Yer Tutucusu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tr-TR" sz="2400" b="1" dirty="0"/>
              <a:t>Konu: </a:t>
            </a:r>
            <a:r>
              <a:rPr lang="tr-TR" sz="2400" dirty="0" smtClean="0"/>
              <a:t>"</a:t>
            </a:r>
            <a:r>
              <a:rPr lang="tr-TR" sz="2400" dirty="0"/>
              <a:t>Dinamik Kullanıcı Rehberi</a:t>
            </a:r>
            <a:r>
              <a:rPr lang="tr-TR" sz="2400" dirty="0" smtClean="0"/>
              <a:t>" </a:t>
            </a:r>
          </a:p>
          <a:p>
            <a:pPr marL="785812" lvl="1" indent="-342900">
              <a:buFont typeface="Wingdings" panose="05000000000000000000" pitchFamily="2" charset="2"/>
              <a:buChar char="Ø"/>
            </a:pPr>
            <a:r>
              <a:rPr lang="tr-TR" sz="2400" b="1" dirty="0"/>
              <a:t>Asenkron Yapı: </a:t>
            </a:r>
            <a:r>
              <a:rPr lang="tr-TR" sz="2400" dirty="0"/>
              <a:t>İnternet işlemleri her zaman belirsiz bir süre alır. Bu yüzden asla </a:t>
            </a:r>
            <a:r>
              <a:rPr lang="tr-TR" sz="2400" dirty="0" err="1"/>
              <a:t>await</a:t>
            </a:r>
            <a:r>
              <a:rPr lang="tr-TR" sz="2400" dirty="0"/>
              <a:t> kullanmadan </a:t>
            </a:r>
            <a:r>
              <a:rPr lang="tr-TR" sz="2400" dirty="0" err="1"/>
              <a:t>arayüzü</a:t>
            </a:r>
            <a:r>
              <a:rPr lang="tr-TR" sz="2400" dirty="0"/>
              <a:t> güncelleyemeyiz. </a:t>
            </a:r>
            <a:endParaRPr lang="tr-TR" sz="2400" dirty="0" smtClean="0"/>
          </a:p>
          <a:p>
            <a:pPr marL="785812" lvl="1" indent="-342900">
              <a:buFont typeface="Wingdings" panose="05000000000000000000" pitchFamily="2" charset="2"/>
              <a:buChar char="Ø"/>
            </a:pPr>
            <a:r>
              <a:rPr lang="tr-TR" sz="2400" b="1" dirty="0" smtClean="0"/>
              <a:t>Veri </a:t>
            </a:r>
            <a:r>
              <a:rPr lang="tr-TR" sz="2400" b="1" dirty="0"/>
              <a:t>Uyumu: </a:t>
            </a:r>
            <a:r>
              <a:rPr lang="tr-TR" sz="2400" dirty="0" err="1"/>
              <a:t>API'den</a:t>
            </a:r>
            <a:r>
              <a:rPr lang="tr-TR" sz="2400" dirty="0"/>
              <a:t> gelen anahtar isimleri (</a:t>
            </a:r>
            <a:r>
              <a:rPr lang="tr-TR" sz="2400" dirty="0" err="1"/>
              <a:t>Örn</a:t>
            </a:r>
            <a:r>
              <a:rPr lang="tr-TR" sz="2400" dirty="0"/>
              <a:t>: 'name', '</a:t>
            </a:r>
            <a:r>
              <a:rPr lang="tr-TR" sz="2400" dirty="0" err="1"/>
              <a:t>email</a:t>
            </a:r>
            <a:r>
              <a:rPr lang="tr-TR" sz="2400" dirty="0"/>
              <a:t>') JSON ile birebir aynı olmalıdır, yoksa uygulama çöker. </a:t>
            </a:r>
            <a:endParaRPr lang="tr-TR" sz="2400" dirty="0" smtClean="0"/>
          </a:p>
          <a:p>
            <a:pPr marL="785812" lvl="1" indent="-342900">
              <a:buFont typeface="Wingdings" panose="05000000000000000000" pitchFamily="2" charset="2"/>
              <a:buChar char="Ø"/>
            </a:pPr>
            <a:r>
              <a:rPr lang="tr-TR" sz="2400" b="1" dirty="0" smtClean="0"/>
              <a:t>Dönüştürme</a:t>
            </a:r>
            <a:r>
              <a:rPr lang="tr-TR" sz="2400" b="1" dirty="0"/>
              <a:t>:</a:t>
            </a:r>
            <a:r>
              <a:rPr lang="tr-TR" sz="2400" dirty="0"/>
              <a:t> </a:t>
            </a:r>
            <a:r>
              <a:rPr lang="tr-TR" sz="2400" dirty="0" err="1"/>
              <a:t>json.decode</a:t>
            </a:r>
            <a:r>
              <a:rPr lang="tr-TR" sz="2400" dirty="0"/>
              <a:t> işlemi, metni önce </a:t>
            </a:r>
            <a:r>
              <a:rPr lang="tr-TR" sz="2400" dirty="0" err="1"/>
              <a:t>List</a:t>
            </a:r>
            <a:r>
              <a:rPr lang="tr-TR" sz="2400" dirty="0"/>
              <a:t>&lt;</a:t>
            </a:r>
            <a:r>
              <a:rPr lang="tr-TR" sz="2400" dirty="0" err="1"/>
              <a:t>dynamic</a:t>
            </a:r>
            <a:r>
              <a:rPr lang="tr-TR" sz="2400" dirty="0"/>
              <a:t>&gt; veya </a:t>
            </a:r>
            <a:r>
              <a:rPr lang="tr-TR" sz="2400" dirty="0" err="1"/>
              <a:t>Map</a:t>
            </a:r>
            <a:r>
              <a:rPr lang="tr-TR" sz="2400" dirty="0"/>
              <a:t>&lt;</a:t>
            </a:r>
            <a:r>
              <a:rPr lang="tr-TR" sz="2400" dirty="0" err="1"/>
              <a:t>dynamic</a:t>
            </a:r>
            <a:r>
              <a:rPr lang="tr-TR" sz="2400" dirty="0"/>
              <a:t>&gt; tipine çevirir. </a:t>
            </a:r>
            <a:endParaRPr lang="tr-TR" sz="2400" dirty="0" smtClean="0"/>
          </a:p>
          <a:p>
            <a:pPr marL="785812" lvl="1" indent="-342900">
              <a:buFont typeface="Wingdings" panose="05000000000000000000" pitchFamily="2" charset="2"/>
              <a:buChar char="Ø"/>
            </a:pPr>
            <a:r>
              <a:rPr lang="tr-TR" sz="2400" b="1" dirty="0" smtClean="0"/>
              <a:t>Güvenlik</a:t>
            </a:r>
            <a:r>
              <a:rPr lang="tr-TR" sz="2400" b="1" dirty="0"/>
              <a:t>:</a:t>
            </a:r>
            <a:r>
              <a:rPr lang="tr-TR" sz="2400" dirty="0"/>
              <a:t> Sunucudan 403 hatası almamak için </a:t>
            </a:r>
            <a:r>
              <a:rPr lang="tr-TR" sz="2400" dirty="0" err="1"/>
              <a:t>http.get</a:t>
            </a:r>
            <a:r>
              <a:rPr lang="tr-TR" sz="2400" dirty="0"/>
              <a:t> isteğine </a:t>
            </a:r>
            <a:r>
              <a:rPr lang="tr-TR" sz="2400" dirty="0" err="1"/>
              <a:t>headers</a:t>
            </a:r>
            <a:r>
              <a:rPr lang="tr-TR" sz="2400" dirty="0"/>
              <a:t> (User-Agent) eklemeyi unutmayın.</a:t>
            </a:r>
          </a:p>
          <a:p>
            <a:pPr marL="201168" lvl="1" indent="0">
              <a:buNone/>
            </a:pPr>
            <a:r>
              <a:rPr lang="tr-TR" sz="2200" b="1" dirty="0" smtClean="0"/>
              <a:t>Ödev Son Teslim Tarihi</a:t>
            </a:r>
            <a:r>
              <a:rPr lang="tr-TR" sz="2200" b="1" smtClean="0"/>
              <a:t>: </a:t>
            </a:r>
            <a:r>
              <a:rPr lang="tr-TR" sz="2200" smtClean="0"/>
              <a:t>24 </a:t>
            </a:r>
            <a:r>
              <a:rPr lang="tr-TR" sz="2200" dirty="0" smtClean="0"/>
              <a:t>Nisan 2026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471147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err="1"/>
              <a:t>Uygulama</a:t>
            </a:r>
            <a:r>
              <a:rPr lang="en-US" sz="4000" b="1" dirty="0"/>
              <a:t> </a:t>
            </a:r>
            <a:r>
              <a:rPr lang="tr-TR" sz="4000" b="1" dirty="0" smtClean="0"/>
              <a:t>Ödevi</a:t>
            </a:r>
            <a:endParaRPr lang="en-US" sz="4000" b="1" dirty="0"/>
          </a:p>
        </p:txBody>
      </p:sp>
      <p:pic>
        <p:nvPicPr>
          <p:cNvPr id="3" name="İçerik Yer Tutucusu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3491" y="1858062"/>
            <a:ext cx="1929954" cy="4428278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342" y="1858062"/>
            <a:ext cx="1953193" cy="442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473568"/>
      </p:ext>
    </p:extLst>
  </p:cSld>
  <p:clrMapOvr>
    <a:masterClrMapping/>
  </p:clrMapOvr>
</p:sld>
</file>

<file path=ppt/theme/theme1.xml><?xml version="1.0" encoding="utf-8"?>
<a:theme xmlns:a="http://schemas.openxmlformats.org/drawingml/2006/main" name="Geçmişe bakış">
  <a:themeElements>
    <a:clrScheme name="Geçmişe bakış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Geçmişe bakış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eçmişe bakış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887</TotalTime>
  <Words>562</Words>
  <Application>Microsoft Office PowerPoint</Application>
  <PresentationFormat>Geniş ekran</PresentationFormat>
  <Paragraphs>53</Paragraphs>
  <Slides>15</Slides>
  <Notes>0</Notes>
  <HiddenSlides>0</HiddenSlides>
  <MMClips>0</MMClips>
  <ScaleCrop>false</ScaleCrop>
  <HeadingPairs>
    <vt:vector size="8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Eklenmiş OLE Hizmet Programları</vt:lpstr>
      </vt:variant>
      <vt:variant>
        <vt:i4>0</vt:i4>
      </vt:variant>
      <vt:variant>
        <vt:lpstr>Slayt Başlıkları</vt:lpstr>
      </vt:variant>
      <vt:variant>
        <vt:i4>15</vt:i4>
      </vt:variant>
    </vt:vector>
  </HeadingPairs>
  <TitlesOfParts>
    <vt:vector size="19" baseType="lpstr">
      <vt:lpstr>Calibri</vt:lpstr>
      <vt:lpstr>Calibri Light</vt:lpstr>
      <vt:lpstr>Wingdings</vt:lpstr>
      <vt:lpstr>Geçmişe bakış</vt:lpstr>
      <vt:lpstr>  Mobil Programlama  HTTP ve API Entegrasyonu (Dış Dünyaya Bağlanma)</vt:lpstr>
      <vt:lpstr>REST API Nedir?</vt:lpstr>
      <vt:lpstr>JSON Veri Formatı</vt:lpstr>
      <vt:lpstr>JSON Veri Formatı</vt:lpstr>
      <vt:lpstr>http Paketi ve Kurulumu</vt:lpstr>
      <vt:lpstr>http Paketi ve Kurulumu</vt:lpstr>
      <vt:lpstr>Veri Modeli (Model Class) Oluşturma</vt:lpstr>
      <vt:lpstr>Veri Modeli (Model Class) Oluşturma</vt:lpstr>
      <vt:lpstr>API'den Veri Çekme (GET İsteği)</vt:lpstr>
      <vt:lpstr>API'den Veri Çekme (GET İsteği)</vt:lpstr>
      <vt:lpstr>Arayüz Entegrasyonu (FutureBuilder)</vt:lpstr>
      <vt:lpstr>Arayüz Entegrasyonu (FutureBuilder)</vt:lpstr>
      <vt:lpstr>Uygulama Ödevi</vt:lpstr>
      <vt:lpstr>Uygulama Ödevi</vt:lpstr>
      <vt:lpstr>Uygulama Ödevi</vt:lpstr>
    </vt:vector>
  </TitlesOfParts>
  <Company>NouS/TncTR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 Programlama  Sayfalar Arası Veri İletimi ve Geçiş Efektleri</dc:title>
  <dc:creator>Monster</dc:creator>
  <cp:lastModifiedBy>Ömer Yılmaz</cp:lastModifiedBy>
  <cp:revision>47</cp:revision>
  <dcterms:created xsi:type="dcterms:W3CDTF">2025-04-23T07:00:29Z</dcterms:created>
  <dcterms:modified xsi:type="dcterms:W3CDTF">2026-03-31T21:06:14Z</dcterms:modified>
</cp:coreProperties>
</file>